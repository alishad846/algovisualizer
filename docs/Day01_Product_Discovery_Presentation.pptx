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5029200" cy="5029200"/>
          </a:xfrm>
          <a:prstGeom prst="ellipse">
            <a:avLst/>
          </a:prstGeom>
          <a:solidFill>
            <a:srgbClr val="8B5CF6">
              <a:alpha val="13000"/>
            </a:srgbClr>
          </a:solidFill>
          <a:ln w="635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2377440"/>
            <a:ext cx="4389120" cy="4389120"/>
          </a:xfrm>
          <a:prstGeom prst="ellipse">
            <a:avLst/>
          </a:prstGeom>
          <a:solidFill>
            <a:srgbClr val="00B4D8">
              <a:alpha val="13000"/>
            </a:srgbClr>
          </a:solidFill>
          <a:ln w="635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0" y="-2011680"/>
            <a:ext cx="2926080" cy="2926080"/>
          </a:xfrm>
          <a:prstGeom prst="ellipse">
            <a:avLst/>
          </a:prstGeom>
          <a:solidFill>
            <a:srgbClr val="22D3EE">
              <a:alpha val="9000"/>
            </a:srgbClr>
          </a:solidFill>
          <a:ln w="6350">
            <a:solidFill>
              <a:srgbClr val="22D3EE">
                <a:alpha val="1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8229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NEXT-GENERATION INTERACTIVE LEARNING PLATFORM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AlgoVision</a:t>
            </a:r>
            <a:endParaRPr lang="en-US" sz="7600" dirty="0"/>
          </a:p>
        </p:txBody>
      </p:sp>
      <p:sp>
        <p:nvSpPr>
          <p:cNvPr id="7" name="Shape 5"/>
          <p:cNvSpPr/>
          <p:nvPr/>
        </p:nvSpPr>
        <p:spPr>
          <a:xfrm>
            <a:off x="2834640" y="2816352"/>
            <a:ext cx="128016" cy="128016"/>
          </a:xfrm>
          <a:prstGeom prst="ellipse">
            <a:avLst/>
          </a:prstGeom>
          <a:solidFill>
            <a:srgbClr val="00B4D8">
              <a:alpha val="5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37560" y="2816352"/>
            <a:ext cx="128016" cy="128016"/>
          </a:xfrm>
          <a:prstGeom prst="ellipse">
            <a:avLst/>
          </a:prstGeom>
          <a:solidFill>
            <a:srgbClr val="00B4D8">
              <a:alpha val="5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0" y="2816352"/>
            <a:ext cx="128016" cy="128016"/>
          </a:xfrm>
          <a:prstGeom prst="ellipse">
            <a:avLst/>
          </a:prstGeom>
          <a:solidFill>
            <a:srgbClr val="00B4D8">
              <a:alpha val="5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3400" y="2816352"/>
            <a:ext cx="128016" cy="12801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2816352"/>
            <a:ext cx="128016" cy="128016"/>
          </a:xfrm>
          <a:prstGeom prst="ellipse">
            <a:avLst/>
          </a:prstGeom>
          <a:solidFill>
            <a:srgbClr val="00B4D8">
              <a:alpha val="5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49240" y="2816352"/>
            <a:ext cx="128016" cy="128016"/>
          </a:xfrm>
          <a:prstGeom prst="ellipse">
            <a:avLst/>
          </a:prstGeom>
          <a:solidFill>
            <a:srgbClr val="00B4D8">
              <a:alpha val="5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52160" y="2816352"/>
            <a:ext cx="128016" cy="128016"/>
          </a:xfrm>
          <a:prstGeom prst="ellipse">
            <a:avLst/>
          </a:prstGeom>
          <a:solidFill>
            <a:srgbClr val="00B4D8">
              <a:alpha val="5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01752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Discovery  &amp;  Experience Design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3520440" y="3584448"/>
            <a:ext cx="2103120" cy="420624"/>
          </a:xfrm>
          <a:prstGeom prst="roundRect">
            <a:avLst>
              <a:gd name="adj" fmla="val 21739"/>
            </a:avLst>
          </a:prstGeom>
          <a:solidFill>
            <a:srgbClr val="8B5CF6">
              <a:alpha val="82000"/>
            </a:srgbClr>
          </a:solidFill>
          <a:ln w="2286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20440" y="3584448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DAY 01 TASK  ✦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46817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 •  Algorithms  •  Machine Learning  •  Interactive Visualization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 Solve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pain-points that inspired AlgoVision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28600" y="1143000"/>
            <a:ext cx="2697480" cy="1353312"/>
          </a:xfrm>
          <a:prstGeom prst="roundRect">
            <a:avLst>
              <a:gd name="adj" fmla="val 8108"/>
            </a:avLst>
          </a:prstGeom>
          <a:solidFill>
            <a:srgbClr val="111827"/>
          </a:solidFill>
          <a:ln w="2032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1261872"/>
            <a:ext cx="347472" cy="3474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261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26187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Predefined Examples Only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47472" y="1691640"/>
            <a:ext cx="24597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visualizers lock users to fixed inputs — zero freedom to experiment with custom data or edge cases.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063240" y="1143000"/>
            <a:ext cx="2697480" cy="1353312"/>
          </a:xfrm>
          <a:prstGeom prst="roundRect">
            <a:avLst>
              <a:gd name="adj" fmla="val 8108"/>
            </a:avLst>
          </a:prstGeom>
          <a:solidFill>
            <a:srgbClr val="111827"/>
          </a:solidFill>
          <a:ln w="2032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82112" y="1261872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82112" y="1261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11880" y="126187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 Input Mode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182112" y="1691640"/>
            <a:ext cx="24597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cannot feed their own arrays, graphs, or datasets into visualizations to test unique scenarios.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897880" y="1143000"/>
            <a:ext cx="2697480" cy="1353312"/>
          </a:xfrm>
          <a:prstGeom prst="roundRect">
            <a:avLst>
              <a:gd name="adj" fmla="val 8108"/>
            </a:avLst>
          </a:prstGeom>
          <a:solidFill>
            <a:srgbClr val="111827"/>
          </a:solidFill>
          <a:ln w="20320">
            <a:solidFill>
              <a:srgbClr val="8B5CF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16752" y="1261872"/>
            <a:ext cx="347472" cy="34747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16752" y="1261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46520" y="126187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Learning Experience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016752" y="1691640"/>
            <a:ext cx="24597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Watch-only approach never builds real understanding — active interaction and experimentation are completely absent.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8600" y="2660904"/>
            <a:ext cx="2697480" cy="1353312"/>
          </a:xfrm>
          <a:prstGeom prst="roundRect">
            <a:avLst>
              <a:gd name="adj" fmla="val 8108"/>
            </a:avLst>
          </a:prstGeom>
          <a:solidFill>
            <a:srgbClr val="111827"/>
          </a:solidFill>
          <a:ln w="2032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47472" y="2779776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27797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" y="2779776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Concepts Stay Abstract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47472" y="3209544"/>
            <a:ext cx="24597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algorithms have no intuitive visual tools to make them tangible or understandable for learners.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063240" y="2660904"/>
            <a:ext cx="2697480" cy="1353312"/>
          </a:xfrm>
          <a:prstGeom prst="roundRect">
            <a:avLst>
              <a:gd name="adj" fmla="val 8108"/>
            </a:avLst>
          </a:prstGeom>
          <a:solidFill>
            <a:srgbClr val="111827"/>
          </a:solidFill>
          <a:ln w="2032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82112" y="2779776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82112" y="27797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11880" y="2779776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Memorization Over Mastery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182112" y="3209544"/>
            <a:ext cx="24597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memorize algorithm steps without grasping the internal logic, trade-offs, or real-world behavior.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897880" y="2660904"/>
            <a:ext cx="2697480" cy="1353312"/>
          </a:xfrm>
          <a:prstGeom prst="roundRect">
            <a:avLst>
              <a:gd name="adj" fmla="val 8108"/>
            </a:avLst>
          </a:prstGeom>
          <a:solidFill>
            <a:srgbClr val="111827"/>
          </a:solidFill>
          <a:ln w="20320">
            <a:solidFill>
              <a:srgbClr val="22D3E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16752" y="2779776"/>
            <a:ext cx="347472" cy="34747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16752" y="27797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46520" y="2779776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Platform Exists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016752" y="3209544"/>
            <a:ext cx="24597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DSA, ML, and coding tools are scattered across dozens of sites — learners constantly context-switch.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Vision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74320" y="804672"/>
            <a:ext cx="3566160" cy="4114800"/>
          </a:xfrm>
          <a:prstGeom prst="roundRect">
            <a:avLst>
              <a:gd name="adj" fmla="val 3846"/>
            </a:avLst>
          </a:prstGeom>
          <a:solidFill>
            <a:srgbClr val="0F1A2E"/>
          </a:solidFill>
          <a:ln w="22860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9601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4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133502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325880" y="1664208"/>
            <a:ext cx="91440" cy="91440"/>
          </a:xfrm>
          <a:prstGeom prst="ellipse">
            <a:avLst/>
          </a:prstGeom>
          <a:solidFill>
            <a:srgbClr val="8B5CF6">
              <a:alpha val="5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45336" y="1664208"/>
            <a:ext cx="91440" cy="91440"/>
          </a:xfrm>
          <a:prstGeom prst="ellipse">
            <a:avLst/>
          </a:prstGeom>
          <a:solidFill>
            <a:srgbClr val="8B5CF6">
              <a:alpha val="5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64792" y="1664208"/>
            <a:ext cx="91440" cy="91440"/>
          </a:xfrm>
          <a:prstGeom prst="ellipse">
            <a:avLst/>
          </a:prstGeom>
          <a:solidFill>
            <a:srgbClr val="8B5CF6">
              <a:alpha val="5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84248" y="1664208"/>
            <a:ext cx="91440" cy="91440"/>
          </a:xfrm>
          <a:prstGeom prst="ellipse">
            <a:avLst/>
          </a:prstGeom>
          <a:solidFill>
            <a:srgbClr val="8B5CF6">
              <a:alpha val="5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03704" y="1664208"/>
            <a:ext cx="91440" cy="91440"/>
          </a:xfrm>
          <a:prstGeom prst="ellipse">
            <a:avLst/>
          </a:prstGeom>
          <a:solidFill>
            <a:srgbClr val="8B5CF6">
              <a:alpha val="5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847088"/>
            <a:ext cx="32461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AlgoVision </a:t>
            </a:r>
            <a:pPr indent="0" marL="0">
              <a:buNone/>
            </a:pPr>
            <a:r>
              <a:rPr lang="en-US" sz="10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</a:t>
            </a:r>
            <a:pPr indent="0" marL="0">
              <a:buNone/>
            </a:pPr>
            <a:r>
              <a:rPr lang="en-US" sz="10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next-generation interactive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platform </a:t>
            </a:r>
            <a:pPr indent="0" marL="0">
              <a:buNone/>
            </a:pPr>
            <a:r>
              <a:rPr lang="en-US" sz="10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students,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educators and developers</a:t>
            </a:r>
            <a:pPr indent="0" marL="0">
              <a:buNone/>
            </a:pPr>
            <a:r>
              <a:rPr lang="en-US" sz="10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explore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Structures, Algorithms</a:t>
            </a:r>
            <a:pPr indent="0" marL="0">
              <a:buNone/>
            </a:pPr>
            <a:r>
              <a:rPr lang="en-US" sz="10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pPr indent="0" marL="0">
              <a:buNone/>
            </a:pPr>
            <a:r>
              <a:rPr lang="en-US" sz="10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through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experimentation.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turns </a:t>
            </a:r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learning </a:t>
            </a:r>
            <a:pPr indent="0" marL="0">
              <a:buNone/>
            </a:pPr>
            <a:r>
              <a:rPr lang="en-US" sz="10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an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exploratory playground.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069080" y="804672"/>
            <a:ext cx="4754880" cy="932688"/>
          </a:xfrm>
          <a:prstGeom prst="roundRect">
            <a:avLst>
              <a:gd name="adj" fmla="val 9804"/>
            </a:avLst>
          </a:prstGeom>
          <a:solidFill>
            <a:srgbClr val="111827"/>
          </a:solidFill>
          <a:ln w="2032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224528" y="89611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224528" y="1170432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interactive visualization platform for DSA, Algorithms, ML and Code experimentation.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069080" y="1847088"/>
            <a:ext cx="4754880" cy="932688"/>
          </a:xfrm>
          <a:prstGeom prst="roundRect">
            <a:avLst>
              <a:gd name="adj" fmla="val 9804"/>
            </a:avLst>
          </a:prstGeom>
          <a:solidFill>
            <a:srgbClr val="111827"/>
          </a:solidFill>
          <a:ln w="20320">
            <a:solidFill>
              <a:srgbClr val="8B5CF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224528" y="193852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BUILT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224528" y="2212848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bridge the gap between theory and practice through hands-on, visual, self-paced learning.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069080" y="2889504"/>
            <a:ext cx="4754880" cy="932688"/>
          </a:xfrm>
          <a:prstGeom prst="roundRect">
            <a:avLst>
              <a:gd name="adj" fmla="val 9804"/>
            </a:avLst>
          </a:prstGeom>
          <a:solidFill>
            <a:srgbClr val="111827"/>
          </a:solidFill>
          <a:ln w="2032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224528" y="29809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IT SOLVES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224528" y="3255264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passive reading with real-time, customizable algorithm simulations and interactive experiments.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069080" y="3931920"/>
            <a:ext cx="4754880" cy="932688"/>
          </a:xfrm>
          <a:prstGeom prst="roundRect">
            <a:avLst>
              <a:gd name="adj" fmla="val 9804"/>
            </a:avLst>
          </a:prstGeom>
          <a:solidFill>
            <a:srgbClr val="111827"/>
          </a:solidFill>
          <a:ln w="2032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224528" y="402336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DIFFERENTIATOR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224528" y="4297680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inputs + live simulation + ML visuals + code playground — all unified in a single platform.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AlgoVision is built for every stage of the coding and learning journey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46888" y="1097280"/>
            <a:ext cx="1965960" cy="1234440"/>
          </a:xfrm>
          <a:prstGeom prst="roundRect">
            <a:avLst>
              <a:gd name="adj" fmla="val 9630"/>
            </a:avLst>
          </a:prstGeom>
          <a:solidFill>
            <a:srgbClr val="111827"/>
          </a:solidFill>
          <a:ln w="1651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73836" y="1179576"/>
            <a:ext cx="512064" cy="429768"/>
          </a:xfrm>
          <a:prstGeom prst="ellipse">
            <a:avLst/>
          </a:prstGeom>
          <a:solidFill>
            <a:srgbClr val="00B4D8">
              <a:alpha val="32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3836" y="1179576"/>
            <a:ext cx="5120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🎓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10896" y="1938528"/>
            <a:ext cx="18379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&amp; university learners exploring CS fundamentals for the first time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368296" y="1097280"/>
            <a:ext cx="1965960" cy="1234440"/>
          </a:xfrm>
          <a:prstGeom prst="roundRect">
            <a:avLst>
              <a:gd name="adj" fmla="val 9630"/>
            </a:avLst>
          </a:prstGeom>
          <a:solidFill>
            <a:srgbClr val="111827"/>
          </a:solidFill>
          <a:ln w="1651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095244" y="1179576"/>
            <a:ext cx="512064" cy="429768"/>
          </a:xfrm>
          <a:prstGeom prst="ellipse">
            <a:avLst/>
          </a:prstGeom>
          <a:solidFill>
            <a:srgbClr val="10B981">
              <a:alpha val="32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95244" y="1179576"/>
            <a:ext cx="5120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🚀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441448" y="1664208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32304" y="1938528"/>
            <a:ext cx="18379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coders starting their programming journey with zero prior experience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489704" y="1097280"/>
            <a:ext cx="1965960" cy="1234440"/>
          </a:xfrm>
          <a:prstGeom prst="roundRect">
            <a:avLst>
              <a:gd name="adj" fmla="val 9630"/>
            </a:avLst>
          </a:prstGeom>
          <a:solidFill>
            <a:srgbClr val="111827"/>
          </a:solidFill>
          <a:ln w="16510">
            <a:solidFill>
              <a:srgbClr val="8B5CF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16652" y="1179576"/>
            <a:ext cx="512064" cy="429768"/>
          </a:xfrm>
          <a:prstGeom prst="ellipse">
            <a:avLst/>
          </a:prstGeom>
          <a:solidFill>
            <a:srgbClr val="8B5CF6">
              <a:alpha val="32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6652" y="1179576"/>
            <a:ext cx="5120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📚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562856" y="1664208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Learners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53712" y="1938528"/>
            <a:ext cx="18379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&amp; CS degree candidates mastering DSA for their coursework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611112" y="1097280"/>
            <a:ext cx="1965960" cy="1234440"/>
          </a:xfrm>
          <a:prstGeom prst="roundRect">
            <a:avLst>
              <a:gd name="adj" fmla="val 9630"/>
            </a:avLst>
          </a:prstGeom>
          <a:solidFill>
            <a:srgbClr val="111827"/>
          </a:solidFill>
          <a:ln w="1651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38060" y="1179576"/>
            <a:ext cx="512064" cy="429768"/>
          </a:xfrm>
          <a:prstGeom prst="ellipse">
            <a:avLst/>
          </a:prstGeom>
          <a:solidFill>
            <a:srgbClr val="F59E0B">
              <a:alpha val="3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38060" y="1179576"/>
            <a:ext cx="5120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🏆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6684264" y="1664208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Programmers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75120" y="1938528"/>
            <a:ext cx="18379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enthusiasts sharpening algorithmic and problem-solving skills daily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46888" y="2496312"/>
            <a:ext cx="1965960" cy="1234440"/>
          </a:xfrm>
          <a:prstGeom prst="roundRect">
            <a:avLst>
              <a:gd name="adj" fmla="val 9630"/>
            </a:avLst>
          </a:prstGeom>
          <a:solidFill>
            <a:srgbClr val="111827"/>
          </a:solidFill>
          <a:ln w="1651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73836" y="2578608"/>
            <a:ext cx="512064" cy="429768"/>
          </a:xfrm>
          <a:prstGeom prst="ellipse">
            <a:avLst/>
          </a:prstGeom>
          <a:solidFill>
            <a:srgbClr val="EF4444">
              <a:alpha val="32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3836" y="2578608"/>
            <a:ext cx="5120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💼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320040" y="3063240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Candidates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10896" y="3337560"/>
            <a:ext cx="18379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seekers preparing for FAANG &amp; top-tier technical coding interviews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368296" y="2496312"/>
            <a:ext cx="1965960" cy="1234440"/>
          </a:xfrm>
          <a:prstGeom prst="roundRect">
            <a:avLst>
              <a:gd name="adj" fmla="val 9630"/>
            </a:avLst>
          </a:prstGeom>
          <a:solidFill>
            <a:srgbClr val="111827"/>
          </a:solidFill>
          <a:ln w="16510">
            <a:solidFill>
              <a:srgbClr val="22D3E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095244" y="2578608"/>
            <a:ext cx="512064" cy="429768"/>
          </a:xfrm>
          <a:prstGeom prst="ellipse">
            <a:avLst/>
          </a:prstGeom>
          <a:solidFill>
            <a:srgbClr val="22D3EE">
              <a:alpha val="32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95244" y="2578608"/>
            <a:ext cx="5120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🤖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2441448" y="3063240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Beginners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432304" y="3337560"/>
            <a:ext cx="18379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 exploring Machine Learning concepts through intuitive visuals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489704" y="2496312"/>
            <a:ext cx="1965960" cy="1234440"/>
          </a:xfrm>
          <a:prstGeom prst="roundRect">
            <a:avLst>
              <a:gd name="adj" fmla="val 9630"/>
            </a:avLst>
          </a:prstGeom>
          <a:solidFill>
            <a:srgbClr val="111827"/>
          </a:solidFill>
          <a:ln w="16510">
            <a:solidFill>
              <a:srgbClr val="EC489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216652" y="2578608"/>
            <a:ext cx="512064" cy="429768"/>
          </a:xfrm>
          <a:prstGeom prst="ellipse">
            <a:avLst/>
          </a:prstGeom>
          <a:solidFill>
            <a:srgbClr val="EC4899">
              <a:alpha val="32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16652" y="2578608"/>
            <a:ext cx="5120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📝</a:t>
            </a:r>
            <a:endParaRPr lang="en-US" sz="1900" dirty="0"/>
          </a:p>
        </p:txBody>
      </p:sp>
      <p:sp>
        <p:nvSpPr>
          <p:cNvPr id="37" name="Text 35"/>
          <p:cNvSpPr/>
          <p:nvPr/>
        </p:nvSpPr>
        <p:spPr>
          <a:xfrm>
            <a:off x="4562856" y="3063240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Educators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53712" y="3337560"/>
            <a:ext cx="18379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using interactive visual aids to engage students in the classroom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611112" y="2496312"/>
            <a:ext cx="1965960" cy="1234440"/>
          </a:xfrm>
          <a:prstGeom prst="roundRect">
            <a:avLst>
              <a:gd name="adj" fmla="val 9630"/>
            </a:avLst>
          </a:prstGeom>
          <a:solidFill>
            <a:srgbClr val="111827"/>
          </a:solidFill>
          <a:ln w="16510">
            <a:solidFill>
              <a:srgbClr val="84CC1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338060" y="2578608"/>
            <a:ext cx="512064" cy="429768"/>
          </a:xfrm>
          <a:prstGeom prst="ellipse">
            <a:avLst/>
          </a:prstGeom>
          <a:solidFill>
            <a:srgbClr val="84CC16">
              <a:alpha val="32000"/>
            </a:srgbClr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38060" y="2578608"/>
            <a:ext cx="5120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🔬</a:t>
            </a:r>
            <a:endParaRPr lang="en-US" sz="1900" dirty="0"/>
          </a:p>
        </p:txBody>
      </p:sp>
      <p:sp>
        <p:nvSpPr>
          <p:cNvPr id="42" name="Text 40"/>
          <p:cNvSpPr/>
          <p:nvPr/>
        </p:nvSpPr>
        <p:spPr>
          <a:xfrm>
            <a:off x="6684264" y="3063240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Self-Learners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675120" y="3337560"/>
            <a:ext cx="18379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Curious minds exploring algorithms independently at their own pace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Product Modules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228600" y="749808"/>
            <a:ext cx="1591056" cy="4133088"/>
          </a:xfrm>
          <a:prstGeom prst="roundRect">
            <a:avLst>
              <a:gd name="adj" fmla="val 7471"/>
            </a:avLst>
          </a:prstGeom>
          <a:solidFill>
            <a:srgbClr val="111827"/>
          </a:solidFill>
          <a:ln w="2032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49808" y="859536"/>
            <a:ext cx="548640" cy="548640"/>
          </a:xfrm>
          <a:prstGeom prst="ellipse">
            <a:avLst/>
          </a:prstGeom>
          <a:solidFill>
            <a:srgbClr val="00B4D8">
              <a:alpha val="72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8595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92608" y="14630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Playground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2148840"/>
            <a:ext cx="1408176" cy="420624"/>
          </a:xfrm>
          <a:prstGeom prst="roundRect">
            <a:avLst>
              <a:gd name="adj" fmla="val 15217"/>
            </a:avLst>
          </a:prstGeom>
          <a:solidFill>
            <a:srgbClr val="00B4D8">
              <a:alpha val="18000"/>
            </a:srgbClr>
          </a:solidFill>
          <a:ln w="635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214884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Sort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" y="2679192"/>
            <a:ext cx="1408176" cy="420624"/>
          </a:xfrm>
          <a:prstGeom prst="roundRect">
            <a:avLst>
              <a:gd name="adj" fmla="val 15217"/>
            </a:avLst>
          </a:prstGeom>
          <a:solidFill>
            <a:srgbClr val="00B4D8">
              <a:alpha val="18000"/>
            </a:srgbClr>
          </a:solidFill>
          <a:ln w="635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267919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0040" y="3209544"/>
            <a:ext cx="1408176" cy="420624"/>
          </a:xfrm>
          <a:prstGeom prst="roundRect">
            <a:avLst>
              <a:gd name="adj" fmla="val 15217"/>
            </a:avLst>
          </a:prstGeom>
          <a:solidFill>
            <a:srgbClr val="00B4D8">
              <a:alpha val="18000"/>
            </a:srgbClr>
          </a:solidFill>
          <a:ln w="635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" y="3209544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Sort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0040" y="3739896"/>
            <a:ext cx="1408176" cy="420624"/>
          </a:xfrm>
          <a:prstGeom prst="roundRect">
            <a:avLst>
              <a:gd name="adj" fmla="val 15217"/>
            </a:avLst>
          </a:prstGeom>
          <a:solidFill>
            <a:srgbClr val="00B4D8">
              <a:alpha val="18000"/>
            </a:srgbClr>
          </a:solidFill>
          <a:ln w="635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37398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0040" y="4270248"/>
            <a:ext cx="1408176" cy="420624"/>
          </a:xfrm>
          <a:prstGeom prst="roundRect">
            <a:avLst>
              <a:gd name="adj" fmla="val 15217"/>
            </a:avLst>
          </a:prstGeom>
          <a:solidFill>
            <a:srgbClr val="00B4D8">
              <a:alpha val="18000"/>
            </a:srgbClr>
          </a:solidFill>
          <a:ln w="635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" y="427024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 &amp; BFS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938528" y="749808"/>
            <a:ext cx="1591056" cy="4133088"/>
          </a:xfrm>
          <a:prstGeom prst="roundRect">
            <a:avLst>
              <a:gd name="adj" fmla="val 7471"/>
            </a:avLst>
          </a:prstGeom>
          <a:solidFill>
            <a:srgbClr val="111827"/>
          </a:solidFill>
          <a:ln w="20320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459736" y="859536"/>
            <a:ext cx="548640" cy="548640"/>
          </a:xfrm>
          <a:prstGeom prst="ellipse">
            <a:avLst/>
          </a:prstGeom>
          <a:solidFill>
            <a:srgbClr val="8B5CF6">
              <a:alpha val="72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59736" y="8595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🧱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002536" y="14630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Playground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029968" y="2148840"/>
            <a:ext cx="1408176" cy="420624"/>
          </a:xfrm>
          <a:prstGeom prst="roundRect">
            <a:avLst>
              <a:gd name="adj" fmla="val 15217"/>
            </a:avLst>
          </a:prstGeom>
          <a:solidFill>
            <a:srgbClr val="8B5CF6">
              <a:alpha val="18000"/>
            </a:srgbClr>
          </a:solidFill>
          <a:ln w="635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48256" y="214884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029968" y="2679192"/>
            <a:ext cx="1408176" cy="420624"/>
          </a:xfrm>
          <a:prstGeom prst="roundRect">
            <a:avLst>
              <a:gd name="adj" fmla="val 15217"/>
            </a:avLst>
          </a:prstGeom>
          <a:solidFill>
            <a:srgbClr val="8B5CF6">
              <a:alpha val="18000"/>
            </a:srgbClr>
          </a:solidFill>
          <a:ln w="635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48256" y="267919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Lists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029968" y="3209544"/>
            <a:ext cx="1408176" cy="420624"/>
          </a:xfrm>
          <a:prstGeom prst="roundRect">
            <a:avLst>
              <a:gd name="adj" fmla="val 15217"/>
            </a:avLst>
          </a:prstGeom>
          <a:solidFill>
            <a:srgbClr val="8B5CF6">
              <a:alpha val="18000"/>
            </a:srgbClr>
          </a:solidFill>
          <a:ln w="635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48256" y="3209544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Stacks &amp; Queues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029968" y="3739896"/>
            <a:ext cx="1408176" cy="420624"/>
          </a:xfrm>
          <a:prstGeom prst="roundRect">
            <a:avLst>
              <a:gd name="adj" fmla="val 15217"/>
            </a:avLst>
          </a:prstGeom>
          <a:solidFill>
            <a:srgbClr val="8B5CF6">
              <a:alpha val="18000"/>
            </a:srgbClr>
          </a:solidFill>
          <a:ln w="635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48256" y="37398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029968" y="4270248"/>
            <a:ext cx="1408176" cy="420624"/>
          </a:xfrm>
          <a:prstGeom prst="roundRect">
            <a:avLst>
              <a:gd name="adj" fmla="val 15217"/>
            </a:avLst>
          </a:prstGeom>
          <a:solidFill>
            <a:srgbClr val="8B5CF6">
              <a:alpha val="18000"/>
            </a:srgbClr>
          </a:solidFill>
          <a:ln w="635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48256" y="427024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648456" y="749808"/>
            <a:ext cx="1591056" cy="4133088"/>
          </a:xfrm>
          <a:prstGeom prst="roundRect">
            <a:avLst>
              <a:gd name="adj" fmla="val 7471"/>
            </a:avLst>
          </a:prstGeom>
          <a:solidFill>
            <a:srgbClr val="111827"/>
          </a:solidFill>
          <a:ln w="2032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169664" y="859536"/>
            <a:ext cx="548640" cy="548640"/>
          </a:xfrm>
          <a:prstGeom prst="ellipse">
            <a:avLst/>
          </a:prstGeom>
          <a:solidFill>
            <a:srgbClr val="10B981">
              <a:alpha val="72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69664" y="8595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3712464" y="14630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Playground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739896" y="2148840"/>
            <a:ext cx="1408176" cy="420624"/>
          </a:xfrm>
          <a:prstGeom prst="roundRect">
            <a:avLst>
              <a:gd name="adj" fmla="val 15217"/>
            </a:avLst>
          </a:prstGeom>
          <a:solidFill>
            <a:srgbClr val="10B981">
              <a:alpha val="18000"/>
            </a:srgbClr>
          </a:solidFill>
          <a:ln w="635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58184" y="214884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739896" y="2679192"/>
            <a:ext cx="1408176" cy="420624"/>
          </a:xfrm>
          <a:prstGeom prst="roundRect">
            <a:avLst>
              <a:gd name="adj" fmla="val 15217"/>
            </a:avLst>
          </a:prstGeom>
          <a:solidFill>
            <a:srgbClr val="10B981">
              <a:alpha val="18000"/>
            </a:srgbClr>
          </a:solidFill>
          <a:ln w="635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58184" y="267919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739896" y="3209544"/>
            <a:ext cx="1408176" cy="420624"/>
          </a:xfrm>
          <a:prstGeom prst="roundRect">
            <a:avLst>
              <a:gd name="adj" fmla="val 15217"/>
            </a:avLst>
          </a:prstGeom>
          <a:solidFill>
            <a:srgbClr val="10B981">
              <a:alpha val="18000"/>
            </a:srgbClr>
          </a:solidFill>
          <a:ln w="635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58184" y="3209544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739896" y="3739896"/>
            <a:ext cx="1408176" cy="420624"/>
          </a:xfrm>
          <a:prstGeom prst="roundRect">
            <a:avLst>
              <a:gd name="adj" fmla="val 15217"/>
            </a:avLst>
          </a:prstGeom>
          <a:solidFill>
            <a:srgbClr val="10B981">
              <a:alpha val="18000"/>
            </a:srgbClr>
          </a:solidFill>
          <a:ln w="635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758184" y="37398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358384" y="749808"/>
            <a:ext cx="1591056" cy="4133088"/>
          </a:xfrm>
          <a:prstGeom prst="roundRect">
            <a:avLst>
              <a:gd name="adj" fmla="val 7471"/>
            </a:avLst>
          </a:prstGeom>
          <a:solidFill>
            <a:srgbClr val="111827"/>
          </a:solidFill>
          <a:ln w="2032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879592" y="859536"/>
            <a:ext cx="548640" cy="548640"/>
          </a:xfrm>
          <a:prstGeom prst="ellipse">
            <a:avLst/>
          </a:prstGeom>
          <a:solidFill>
            <a:srgbClr val="F59E0B">
              <a:alpha val="7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879592" y="8595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💻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5422392" y="14630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Playground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449824" y="2148840"/>
            <a:ext cx="1408176" cy="420624"/>
          </a:xfrm>
          <a:prstGeom prst="roundRect">
            <a:avLst>
              <a:gd name="adj" fmla="val 15217"/>
            </a:avLst>
          </a:prstGeom>
          <a:solidFill>
            <a:srgbClr val="F59E0B">
              <a:alpha val="18000"/>
            </a:srgbClr>
          </a:solidFill>
          <a:ln w="635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68112" y="214884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Code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449824" y="2679192"/>
            <a:ext cx="1408176" cy="420624"/>
          </a:xfrm>
          <a:prstGeom prst="roundRect">
            <a:avLst>
              <a:gd name="adj" fmla="val 15217"/>
            </a:avLst>
          </a:prstGeom>
          <a:solidFill>
            <a:srgbClr val="F59E0B">
              <a:alpha val="18000"/>
            </a:srgbClr>
          </a:solidFill>
          <a:ln w="635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68112" y="267919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&amp; Execute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449824" y="3209544"/>
            <a:ext cx="1408176" cy="420624"/>
          </a:xfrm>
          <a:prstGeom prst="roundRect">
            <a:avLst>
              <a:gd name="adj" fmla="val 15217"/>
            </a:avLst>
          </a:prstGeom>
          <a:solidFill>
            <a:srgbClr val="F59E0B">
              <a:alpha val="18000"/>
            </a:srgbClr>
          </a:solidFill>
          <a:ln w="635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68112" y="3209544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Outputs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449824" y="3739896"/>
            <a:ext cx="1408176" cy="420624"/>
          </a:xfrm>
          <a:prstGeom prst="roundRect">
            <a:avLst>
              <a:gd name="adj" fmla="val 15217"/>
            </a:avLst>
          </a:prstGeom>
          <a:solidFill>
            <a:srgbClr val="F59E0B">
              <a:alpha val="18000"/>
            </a:srgbClr>
          </a:solidFill>
          <a:ln w="635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68112" y="37398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7068312" y="749808"/>
            <a:ext cx="1591056" cy="4133088"/>
          </a:xfrm>
          <a:prstGeom prst="roundRect">
            <a:avLst>
              <a:gd name="adj" fmla="val 7471"/>
            </a:avLst>
          </a:prstGeom>
          <a:solidFill>
            <a:srgbClr val="111827"/>
          </a:solidFill>
          <a:ln w="20320">
            <a:solidFill>
              <a:srgbClr val="22D3EE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7589520" y="859536"/>
            <a:ext cx="548640" cy="548640"/>
          </a:xfrm>
          <a:prstGeom prst="ellipse">
            <a:avLst/>
          </a:prstGeom>
          <a:solidFill>
            <a:srgbClr val="22D3EE">
              <a:alpha val="72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589520" y="8595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📖</a:t>
            </a:r>
            <a:endParaRPr lang="en-US" sz="2200" dirty="0"/>
          </a:p>
        </p:txBody>
      </p:sp>
      <p:sp>
        <p:nvSpPr>
          <p:cNvPr id="58" name="Text 56"/>
          <p:cNvSpPr/>
          <p:nvPr/>
        </p:nvSpPr>
        <p:spPr>
          <a:xfrm>
            <a:off x="7132320" y="14630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Lab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159752" y="2148840"/>
            <a:ext cx="1408176" cy="420624"/>
          </a:xfrm>
          <a:prstGeom prst="roundRect">
            <a:avLst>
              <a:gd name="adj" fmla="val 15217"/>
            </a:avLst>
          </a:prstGeom>
          <a:solidFill>
            <a:srgbClr val="22D3EE">
              <a:alpha val="18000"/>
            </a:srgbClr>
          </a:solidFill>
          <a:ln w="6350">
            <a:solidFill>
              <a:srgbClr val="22D3EE">
                <a:alpha val="4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178040" y="214884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Tutorials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7159752" y="2679192"/>
            <a:ext cx="1408176" cy="420624"/>
          </a:xfrm>
          <a:prstGeom prst="roundRect">
            <a:avLst>
              <a:gd name="adj" fmla="val 15217"/>
            </a:avLst>
          </a:prstGeom>
          <a:solidFill>
            <a:srgbClr val="22D3EE">
              <a:alpha val="18000"/>
            </a:srgbClr>
          </a:solidFill>
          <a:ln w="6350">
            <a:solidFill>
              <a:srgbClr val="22D3EE">
                <a:alpha val="40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178040" y="267919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Simulations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7159752" y="3209544"/>
            <a:ext cx="1408176" cy="420624"/>
          </a:xfrm>
          <a:prstGeom prst="roundRect">
            <a:avLst>
              <a:gd name="adj" fmla="val 15217"/>
            </a:avLst>
          </a:prstGeom>
          <a:solidFill>
            <a:srgbClr val="22D3EE">
              <a:alpha val="18000"/>
            </a:srgbClr>
          </a:solidFill>
          <a:ln w="6350">
            <a:solidFill>
              <a:srgbClr val="22D3EE">
                <a:alpha val="40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178040" y="3209544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Quizzes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7159752" y="3739896"/>
            <a:ext cx="1408176" cy="420624"/>
          </a:xfrm>
          <a:prstGeom prst="roundRect">
            <a:avLst>
              <a:gd name="adj" fmla="val 15217"/>
            </a:avLst>
          </a:prstGeom>
          <a:solidFill>
            <a:srgbClr val="22D3EE">
              <a:alpha val="18000"/>
            </a:srgbClr>
          </a:solidFill>
          <a:ln w="6350">
            <a:solidFill>
              <a:srgbClr val="22D3EE">
                <a:alpha val="40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178040" y="37398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Tracking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 Flow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step-by-step navigation through the AlgoVision platform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82880" y="1207008"/>
            <a:ext cx="1536192" cy="932688"/>
          </a:xfrm>
          <a:prstGeom prst="roundRect">
            <a:avLst>
              <a:gd name="adj" fmla="val 9804"/>
            </a:avLst>
          </a:prstGeom>
          <a:solidFill>
            <a:srgbClr val="111827"/>
          </a:solidFill>
          <a:ln w="2032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1014984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014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46888" y="1298448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46888" y="1682496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&amp; intro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719072" y="1673352"/>
            <a:ext cx="155448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74520" y="1207008"/>
            <a:ext cx="1536192" cy="932688"/>
          </a:xfrm>
          <a:prstGeom prst="roundRect">
            <a:avLst>
              <a:gd name="adj" fmla="val 9804"/>
            </a:avLst>
          </a:prstGeom>
          <a:solidFill>
            <a:srgbClr val="111827"/>
          </a:solidFill>
          <a:ln w="20320">
            <a:solidFill>
              <a:srgbClr val="8B5CF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50592" y="1014984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50592" y="1014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938528" y="1298448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Register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938528" y="1682496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account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410712" y="1673352"/>
            <a:ext cx="155448" cy="0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66160" y="1207008"/>
            <a:ext cx="1536192" cy="932688"/>
          </a:xfrm>
          <a:prstGeom prst="roundRect">
            <a:avLst>
              <a:gd name="adj" fmla="val 9804"/>
            </a:avLst>
          </a:prstGeom>
          <a:solidFill>
            <a:srgbClr val="111827"/>
          </a:solidFill>
          <a:ln w="2032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42232" y="1014984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42232" y="1014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30168" y="1298448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30168" y="1682496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learning hub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102352" y="1673352"/>
            <a:ext cx="155448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57800" y="1207008"/>
            <a:ext cx="1536192" cy="932688"/>
          </a:xfrm>
          <a:prstGeom prst="roundRect">
            <a:avLst>
              <a:gd name="adj" fmla="val 9804"/>
            </a:avLst>
          </a:prstGeom>
          <a:solidFill>
            <a:srgbClr val="111827"/>
          </a:solidFill>
          <a:ln w="2032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833872" y="1014984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33872" y="1014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321808" y="1298448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Module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321808" y="1682496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playground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793992" y="1673352"/>
            <a:ext cx="155448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49440" y="1207008"/>
            <a:ext cx="1536192" cy="932688"/>
          </a:xfrm>
          <a:prstGeom prst="roundRect">
            <a:avLst>
              <a:gd name="adj" fmla="val 9804"/>
            </a:avLst>
          </a:prstGeom>
          <a:solidFill>
            <a:srgbClr val="111827"/>
          </a:solidFill>
          <a:ln w="20320">
            <a:solidFill>
              <a:srgbClr val="22D3E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525512" y="1014984"/>
            <a:ext cx="384048" cy="38404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25512" y="1014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013448" y="1298448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Topic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013448" y="1682496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your algorithm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82880" y="2926080"/>
            <a:ext cx="1536192" cy="932688"/>
          </a:xfrm>
          <a:prstGeom prst="roundRect">
            <a:avLst>
              <a:gd name="adj" fmla="val 9804"/>
            </a:avLst>
          </a:prstGeom>
          <a:solidFill>
            <a:srgbClr val="111827"/>
          </a:solidFill>
          <a:ln w="2032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58952" y="2734056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8952" y="2734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46888" y="3017520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Input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46888" y="3401568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own data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719072" y="3392424"/>
            <a:ext cx="155448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874520" y="2926080"/>
            <a:ext cx="1536192" cy="932688"/>
          </a:xfrm>
          <a:prstGeom prst="roundRect">
            <a:avLst>
              <a:gd name="adj" fmla="val 9804"/>
            </a:avLst>
          </a:prstGeom>
          <a:solidFill>
            <a:srgbClr val="111827"/>
          </a:solidFill>
          <a:ln w="20320">
            <a:solidFill>
              <a:srgbClr val="8B5CF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450592" y="2734056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450592" y="2734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938528" y="3017520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Visualization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1938528" y="3401568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it animate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410712" y="3392424"/>
            <a:ext cx="155448" cy="0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566160" y="2926080"/>
            <a:ext cx="1536192" cy="932688"/>
          </a:xfrm>
          <a:prstGeom prst="roundRect">
            <a:avLst>
              <a:gd name="adj" fmla="val 9804"/>
            </a:avLst>
          </a:prstGeom>
          <a:solidFill>
            <a:srgbClr val="111827"/>
          </a:solidFill>
          <a:ln w="2032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142232" y="2734056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42232" y="2734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3630168" y="3017520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Output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3630168" y="3401568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view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102352" y="3392424"/>
            <a:ext cx="155448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257800" y="2926080"/>
            <a:ext cx="1536192" cy="932688"/>
          </a:xfrm>
          <a:prstGeom prst="roundRect">
            <a:avLst>
              <a:gd name="adj" fmla="val 9804"/>
            </a:avLst>
          </a:prstGeom>
          <a:solidFill>
            <a:srgbClr val="111827"/>
          </a:solidFill>
          <a:ln w="2032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5833872" y="2734056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833872" y="2734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321808" y="3017520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Explanation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321808" y="3401568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&amp; complexity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6793992" y="3392424"/>
            <a:ext cx="155448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949440" y="2926080"/>
            <a:ext cx="1536192" cy="932688"/>
          </a:xfrm>
          <a:prstGeom prst="roundRect">
            <a:avLst>
              <a:gd name="adj" fmla="val 9804"/>
            </a:avLst>
          </a:prstGeom>
          <a:solidFill>
            <a:srgbClr val="111827"/>
          </a:solidFill>
          <a:ln w="20320">
            <a:solidFill>
              <a:srgbClr val="22D3E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7525512" y="2734056"/>
            <a:ext cx="384048" cy="38404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525512" y="2734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7013448" y="3017520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Progress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7013448" y="3401568"/>
            <a:ext cx="1408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&amp; earn badges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457200" y="22128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Flow wraps — continues in row below  ↓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Prioritization Matrix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246888" y="786384"/>
            <a:ext cx="2697480" cy="4160520"/>
          </a:xfrm>
          <a:prstGeom prst="roundRect">
            <a:avLst>
              <a:gd name="adj" fmla="val 5085"/>
            </a:avLst>
          </a:prstGeom>
          <a:solidFill>
            <a:srgbClr val="0A1F15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56616" y="877824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356616" y="1225296"/>
            <a:ext cx="2478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Priority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95528" y="1536192"/>
            <a:ext cx="82296" cy="82296"/>
          </a:xfrm>
          <a:prstGeom prst="ellipse">
            <a:avLst/>
          </a:prstGeom>
          <a:solidFill>
            <a:srgbClr val="10B981">
              <a:alpha val="5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1536192"/>
            <a:ext cx="82296" cy="82296"/>
          </a:xfrm>
          <a:prstGeom prst="ellipse">
            <a:avLst/>
          </a:prstGeom>
          <a:solidFill>
            <a:srgbClr val="10B981">
              <a:alpha val="5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90472" y="1536192"/>
            <a:ext cx="82296" cy="82296"/>
          </a:xfrm>
          <a:prstGeom prst="ellipse">
            <a:avLst/>
          </a:prstGeom>
          <a:solidFill>
            <a:srgbClr val="10B981">
              <a:alpha val="5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37944" y="1536192"/>
            <a:ext cx="82296" cy="82296"/>
          </a:xfrm>
          <a:prstGeom prst="ellipse">
            <a:avLst/>
          </a:prstGeom>
          <a:solidFill>
            <a:srgbClr val="10B981">
              <a:alpha val="5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85416" y="1536192"/>
            <a:ext cx="82296" cy="82296"/>
          </a:xfrm>
          <a:prstGeom prst="ellipse">
            <a:avLst/>
          </a:prstGeom>
          <a:solidFill>
            <a:srgbClr val="10B981">
              <a:alpha val="5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6616" y="1755648"/>
            <a:ext cx="2478024" cy="411480"/>
          </a:xfrm>
          <a:prstGeom prst="roundRect">
            <a:avLst>
              <a:gd name="adj" fmla="val 17778"/>
            </a:avLst>
          </a:prstGeom>
          <a:solidFill>
            <a:srgbClr val="10B981">
              <a:alpha val="16000"/>
            </a:srgbClr>
          </a:solidFill>
          <a:ln w="6350">
            <a:solidFill>
              <a:srgbClr val="10B981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" y="1897380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" y="175564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Visualizer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56616" y="2276856"/>
            <a:ext cx="2478024" cy="411480"/>
          </a:xfrm>
          <a:prstGeom prst="roundRect">
            <a:avLst>
              <a:gd name="adj" fmla="val 17778"/>
            </a:avLst>
          </a:prstGeom>
          <a:solidFill>
            <a:srgbClr val="10B981">
              <a:alpha val="16000"/>
            </a:srgbClr>
          </a:solidFill>
          <a:ln w="6350">
            <a:solidFill>
              <a:srgbClr val="10B981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9768" y="2418588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" y="2276856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Visualizer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56616" y="2798064"/>
            <a:ext cx="2478024" cy="411480"/>
          </a:xfrm>
          <a:prstGeom prst="roundRect">
            <a:avLst>
              <a:gd name="adj" fmla="val 17778"/>
            </a:avLst>
          </a:prstGeom>
          <a:solidFill>
            <a:srgbClr val="10B981">
              <a:alpha val="16000"/>
            </a:srgbClr>
          </a:solidFill>
          <a:ln w="6350">
            <a:solidFill>
              <a:srgbClr val="10B981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9768" y="2939796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" y="279806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Input Mode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56616" y="3319272"/>
            <a:ext cx="2478024" cy="411480"/>
          </a:xfrm>
          <a:prstGeom prst="roundRect">
            <a:avLst>
              <a:gd name="adj" fmla="val 17778"/>
            </a:avLst>
          </a:prstGeom>
          <a:solidFill>
            <a:srgbClr val="10B981">
              <a:alpha val="16000"/>
            </a:srgbClr>
          </a:solidFill>
          <a:ln w="6350">
            <a:solidFill>
              <a:srgbClr val="10B981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9768" y="3461004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" y="331927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Data Generator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56616" y="3840480"/>
            <a:ext cx="2478024" cy="411480"/>
          </a:xfrm>
          <a:prstGeom prst="roundRect">
            <a:avLst>
              <a:gd name="adj" fmla="val 17778"/>
            </a:avLst>
          </a:prstGeom>
          <a:solidFill>
            <a:srgbClr val="10B981">
              <a:alpha val="16000"/>
            </a:srgbClr>
          </a:solidFill>
          <a:ln w="6350">
            <a:solidFill>
              <a:srgbClr val="10B981">
                <a:alpha val="3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9768" y="3982212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" y="3840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Dashboard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56616" y="4361688"/>
            <a:ext cx="2478024" cy="411480"/>
          </a:xfrm>
          <a:prstGeom prst="roundRect">
            <a:avLst>
              <a:gd name="adj" fmla="val 17778"/>
            </a:avLst>
          </a:prstGeom>
          <a:solidFill>
            <a:srgbClr val="10B981">
              <a:alpha val="16000"/>
            </a:srgbClr>
          </a:solidFill>
          <a:ln w="6350">
            <a:solidFill>
              <a:srgbClr val="10B981">
                <a:alpha val="3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9768" y="4503420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" y="436168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Explanation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191256" y="786384"/>
            <a:ext cx="2697480" cy="4160520"/>
          </a:xfrm>
          <a:prstGeom prst="roundRect">
            <a:avLst>
              <a:gd name="adj" fmla="val 5085"/>
            </a:avLst>
          </a:prstGeom>
          <a:solidFill>
            <a:srgbClr val="1F160A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300984" y="877824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TO HAVE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3300984" y="1225296"/>
            <a:ext cx="2478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Priority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739896" y="1536192"/>
            <a:ext cx="82296" cy="82296"/>
          </a:xfrm>
          <a:prstGeom prst="ellipse">
            <a:avLst/>
          </a:prstGeom>
          <a:solidFill>
            <a:srgbClr val="F59E0B">
              <a:alpha val="5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087368" y="1536192"/>
            <a:ext cx="82296" cy="82296"/>
          </a:xfrm>
          <a:prstGeom prst="ellipse">
            <a:avLst/>
          </a:prstGeom>
          <a:solidFill>
            <a:srgbClr val="F59E0B">
              <a:alpha val="5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34840" y="1536192"/>
            <a:ext cx="82296" cy="82296"/>
          </a:xfrm>
          <a:prstGeom prst="ellipse">
            <a:avLst/>
          </a:prstGeom>
          <a:solidFill>
            <a:srgbClr val="F59E0B">
              <a:alpha val="5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82312" y="1536192"/>
            <a:ext cx="82296" cy="82296"/>
          </a:xfrm>
          <a:prstGeom prst="ellipse">
            <a:avLst/>
          </a:prstGeom>
          <a:solidFill>
            <a:srgbClr val="F59E0B">
              <a:alpha val="5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29784" y="1536192"/>
            <a:ext cx="82296" cy="82296"/>
          </a:xfrm>
          <a:prstGeom prst="ellipse">
            <a:avLst/>
          </a:prstGeom>
          <a:solidFill>
            <a:srgbClr val="F59E0B">
              <a:alpha val="5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300984" y="1755648"/>
            <a:ext cx="2478024" cy="411480"/>
          </a:xfrm>
          <a:prstGeom prst="roundRect">
            <a:avLst>
              <a:gd name="adj" fmla="val 17778"/>
            </a:avLst>
          </a:prstGeom>
          <a:solidFill>
            <a:srgbClr val="F59E0B">
              <a:alpha val="16000"/>
            </a:srgbClr>
          </a:solidFill>
          <a:ln w="6350">
            <a:solidFill>
              <a:srgbClr val="F59E0B">
                <a:alpha val="3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374136" y="1897380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75304" y="175564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Progress Tracking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300984" y="2276856"/>
            <a:ext cx="2478024" cy="411480"/>
          </a:xfrm>
          <a:prstGeom prst="roundRect">
            <a:avLst>
              <a:gd name="adj" fmla="val 17778"/>
            </a:avLst>
          </a:prstGeom>
          <a:solidFill>
            <a:srgbClr val="F59E0B">
              <a:alpha val="16000"/>
            </a:srgbClr>
          </a:solidFill>
          <a:ln w="6350">
            <a:solidFill>
              <a:srgbClr val="F59E0B">
                <a:alpha val="3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374136" y="2418588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75304" y="2276856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/ Light Themes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300984" y="2798064"/>
            <a:ext cx="2478024" cy="411480"/>
          </a:xfrm>
          <a:prstGeom prst="roundRect">
            <a:avLst>
              <a:gd name="adj" fmla="val 17778"/>
            </a:avLst>
          </a:prstGeom>
          <a:solidFill>
            <a:srgbClr val="F59E0B">
              <a:alpha val="16000"/>
            </a:srgbClr>
          </a:solidFill>
          <a:ln w="6350">
            <a:solidFill>
              <a:srgbClr val="F59E0B">
                <a:alpha val="3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374136" y="2939796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75304" y="279806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Playground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300984" y="3319272"/>
            <a:ext cx="2478024" cy="411480"/>
          </a:xfrm>
          <a:prstGeom prst="roundRect">
            <a:avLst>
              <a:gd name="adj" fmla="val 17778"/>
            </a:avLst>
          </a:prstGeom>
          <a:solidFill>
            <a:srgbClr val="F59E0B">
              <a:alpha val="16000"/>
            </a:srgbClr>
          </a:solidFill>
          <a:ln w="6350">
            <a:solidFill>
              <a:srgbClr val="F59E0B">
                <a:alpha val="3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374136" y="3461004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575304" y="331927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Visual Playground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300984" y="3840480"/>
            <a:ext cx="2478024" cy="411480"/>
          </a:xfrm>
          <a:prstGeom prst="roundRect">
            <a:avLst>
              <a:gd name="adj" fmla="val 17778"/>
            </a:avLst>
          </a:prstGeom>
          <a:solidFill>
            <a:srgbClr val="F59E0B">
              <a:alpha val="16000"/>
            </a:srgbClr>
          </a:solidFill>
          <a:ln w="6350">
            <a:solidFill>
              <a:srgbClr val="F59E0B">
                <a:alpha val="35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374136" y="3982212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575304" y="3840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Control Slider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300984" y="4361688"/>
            <a:ext cx="2478024" cy="411480"/>
          </a:xfrm>
          <a:prstGeom prst="roundRect">
            <a:avLst>
              <a:gd name="adj" fmla="val 17778"/>
            </a:avLst>
          </a:prstGeom>
          <a:solidFill>
            <a:srgbClr val="F59E0B">
              <a:alpha val="16000"/>
            </a:srgbClr>
          </a:solidFill>
          <a:ln w="6350">
            <a:solidFill>
              <a:srgbClr val="F59E0B">
                <a:alpha val="35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374136" y="4503420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575304" y="436168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/ Share Results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135624" y="786384"/>
            <a:ext cx="2697480" cy="4160520"/>
          </a:xfrm>
          <a:prstGeom prst="roundRect">
            <a:avLst>
              <a:gd name="adj" fmla="val 5085"/>
            </a:avLst>
          </a:prstGeom>
          <a:solidFill>
            <a:srgbClr val="150A1F"/>
          </a:solidFill>
          <a:ln w="25400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6245352" y="877824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450" dirty="0"/>
          </a:p>
        </p:txBody>
      </p:sp>
      <p:sp>
        <p:nvSpPr>
          <p:cNvPr id="57" name="Text 55"/>
          <p:cNvSpPr/>
          <p:nvPr/>
        </p:nvSpPr>
        <p:spPr>
          <a:xfrm>
            <a:off x="6245352" y="1225296"/>
            <a:ext cx="2478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Priority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684264" y="1536192"/>
            <a:ext cx="82296" cy="82296"/>
          </a:xfrm>
          <a:prstGeom prst="ellipse">
            <a:avLst/>
          </a:prstGeom>
          <a:solidFill>
            <a:srgbClr val="8B5CF6">
              <a:alpha val="5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031736" y="1536192"/>
            <a:ext cx="82296" cy="82296"/>
          </a:xfrm>
          <a:prstGeom prst="ellipse">
            <a:avLst/>
          </a:prstGeom>
          <a:solidFill>
            <a:srgbClr val="8B5CF6">
              <a:alpha val="5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379208" y="1536192"/>
            <a:ext cx="82296" cy="82296"/>
          </a:xfrm>
          <a:prstGeom prst="ellipse">
            <a:avLst/>
          </a:prstGeom>
          <a:solidFill>
            <a:srgbClr val="8B5CF6">
              <a:alpha val="5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726680" y="1536192"/>
            <a:ext cx="82296" cy="82296"/>
          </a:xfrm>
          <a:prstGeom prst="ellipse">
            <a:avLst/>
          </a:prstGeom>
          <a:solidFill>
            <a:srgbClr val="8B5CF6">
              <a:alpha val="5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074152" y="1536192"/>
            <a:ext cx="82296" cy="82296"/>
          </a:xfrm>
          <a:prstGeom prst="ellipse">
            <a:avLst/>
          </a:prstGeom>
          <a:solidFill>
            <a:srgbClr val="8B5CF6">
              <a:alpha val="5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245352" y="1755648"/>
            <a:ext cx="2478024" cy="411480"/>
          </a:xfrm>
          <a:prstGeom prst="roundRect">
            <a:avLst>
              <a:gd name="adj" fmla="val 17778"/>
            </a:avLst>
          </a:prstGeom>
          <a:solidFill>
            <a:srgbClr val="8B5CF6">
              <a:alpha val="16000"/>
            </a:srgbClr>
          </a:solidFill>
          <a:ln w="6350">
            <a:solidFill>
              <a:srgbClr val="8B5CF6">
                <a:alpha val="35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318504" y="1897380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519672" y="175564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Leaderboards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6245352" y="2276856"/>
            <a:ext cx="2478024" cy="411480"/>
          </a:xfrm>
          <a:prstGeom prst="roundRect">
            <a:avLst>
              <a:gd name="adj" fmla="val 17778"/>
            </a:avLst>
          </a:prstGeom>
          <a:solidFill>
            <a:srgbClr val="8B5CF6">
              <a:alpha val="16000"/>
            </a:srgbClr>
          </a:solidFill>
          <a:ln w="6350">
            <a:solidFill>
              <a:srgbClr val="8B5CF6">
                <a:alpha val="35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318504" y="2418588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519672" y="2276856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Tutor Assistant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6245352" y="2798064"/>
            <a:ext cx="2478024" cy="411480"/>
          </a:xfrm>
          <a:prstGeom prst="roundRect">
            <a:avLst>
              <a:gd name="adj" fmla="val 17778"/>
            </a:avLst>
          </a:prstGeom>
          <a:solidFill>
            <a:srgbClr val="8B5CF6">
              <a:alpha val="16000"/>
            </a:srgbClr>
          </a:solidFill>
          <a:ln w="6350">
            <a:solidFill>
              <a:srgbClr val="8B5CF6">
                <a:alpha val="35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318504" y="2939796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519672" y="279806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Sharing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6245352" y="3319272"/>
            <a:ext cx="2478024" cy="411480"/>
          </a:xfrm>
          <a:prstGeom prst="roundRect">
            <a:avLst>
              <a:gd name="adj" fmla="val 17778"/>
            </a:avLst>
          </a:prstGeom>
          <a:solidFill>
            <a:srgbClr val="8B5CF6">
              <a:alpha val="16000"/>
            </a:srgbClr>
          </a:solidFill>
          <a:ln w="6350">
            <a:solidFill>
              <a:srgbClr val="8B5CF6">
                <a:alpha val="35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318504" y="3461004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519672" y="331927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Multiplayer Challenges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245352" y="3840480"/>
            <a:ext cx="2478024" cy="411480"/>
          </a:xfrm>
          <a:prstGeom prst="roundRect">
            <a:avLst>
              <a:gd name="adj" fmla="val 17778"/>
            </a:avLst>
          </a:prstGeom>
          <a:solidFill>
            <a:srgbClr val="8B5CF6">
              <a:alpha val="16000"/>
            </a:srgbClr>
          </a:solidFill>
          <a:ln w="6350">
            <a:solidFill>
              <a:srgbClr val="8B5CF6">
                <a:alpha val="35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318504" y="3982212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519672" y="3840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Learning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6245352" y="4361688"/>
            <a:ext cx="2478024" cy="411480"/>
          </a:xfrm>
          <a:prstGeom prst="roundRect">
            <a:avLst>
              <a:gd name="adj" fmla="val 17778"/>
            </a:avLst>
          </a:prstGeom>
          <a:solidFill>
            <a:srgbClr val="8B5CF6">
              <a:alpha val="16000"/>
            </a:srgbClr>
          </a:solidFill>
          <a:ln w="6350">
            <a:solidFill>
              <a:srgbClr val="8B5CF6">
                <a:alpha val="35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318504" y="4503420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519672" y="436168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 &amp; Badges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Experience Blueprint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8-step learning journey — from theory to mastery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01752" y="1097280"/>
            <a:ext cx="3913632" cy="658368"/>
          </a:xfrm>
          <a:prstGeom prst="roundRect">
            <a:avLst>
              <a:gd name="adj" fmla="val 13889"/>
            </a:avLst>
          </a:prstGeom>
          <a:solidFill>
            <a:srgbClr val="111827"/>
          </a:solidFill>
          <a:ln w="2032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93192" y="1207008"/>
            <a:ext cx="429768" cy="429768"/>
          </a:xfrm>
          <a:prstGeom prst="roundRect">
            <a:avLst>
              <a:gd name="adj" fmla="val 14894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1207008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188720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Topic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426464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any topic from DSA, Algorithms or ML module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58568" y="1755648"/>
            <a:ext cx="0" cy="109728"/>
          </a:xfrm>
          <a:prstGeom prst="line">
            <a:avLst/>
          </a:prstGeom>
          <a:noFill/>
          <a:ln w="12700">
            <a:solidFill>
              <a:srgbClr val="00B4D8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1752" y="1865376"/>
            <a:ext cx="3913632" cy="658368"/>
          </a:xfrm>
          <a:prstGeom prst="roundRect">
            <a:avLst>
              <a:gd name="adj" fmla="val 13889"/>
            </a:avLst>
          </a:prstGeom>
          <a:solidFill>
            <a:srgbClr val="111827"/>
          </a:solidFill>
          <a:ln w="20320">
            <a:solidFill>
              <a:srgbClr val="8B5CF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93192" y="1975104"/>
            <a:ext cx="429768" cy="429768"/>
          </a:xfrm>
          <a:prstGeom prst="roundRect">
            <a:avLst>
              <a:gd name="adj" fmla="val 14894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" y="1975104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1956816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Theory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2194560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concept overview, use-cases and core properties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258568" y="2523744"/>
            <a:ext cx="0" cy="109728"/>
          </a:xfrm>
          <a:prstGeom prst="line">
            <a:avLst/>
          </a:prstGeom>
          <a:noFill/>
          <a:ln w="12700">
            <a:solidFill>
              <a:srgbClr val="8B5CF6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1752" y="2633472"/>
            <a:ext cx="3913632" cy="658368"/>
          </a:xfrm>
          <a:prstGeom prst="roundRect">
            <a:avLst>
              <a:gd name="adj" fmla="val 13889"/>
            </a:avLst>
          </a:prstGeom>
          <a:solidFill>
            <a:srgbClr val="111827"/>
          </a:solidFill>
          <a:ln w="2032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93192" y="2743200"/>
            <a:ext cx="429768" cy="429768"/>
          </a:xfrm>
          <a:prstGeom prst="roundRect">
            <a:avLst>
              <a:gd name="adj" fmla="val 14894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" y="2743200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2724912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Sample Data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2962656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random generator or enter fully custom input data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258568" y="3291840"/>
            <a:ext cx="0" cy="109728"/>
          </a:xfrm>
          <a:prstGeom prst="line">
            <a:avLst/>
          </a:prstGeom>
          <a:noFill/>
          <a:ln w="12700">
            <a:solidFill>
              <a:srgbClr val="10B981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1752" y="3401568"/>
            <a:ext cx="3913632" cy="658368"/>
          </a:xfrm>
          <a:prstGeom prst="roundRect">
            <a:avLst>
              <a:gd name="adj" fmla="val 13889"/>
            </a:avLst>
          </a:prstGeom>
          <a:solidFill>
            <a:srgbClr val="111827"/>
          </a:solidFill>
          <a:ln w="2032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93192" y="3511296"/>
            <a:ext cx="429768" cy="429768"/>
          </a:xfrm>
          <a:prstGeom prst="roundRect">
            <a:avLst>
              <a:gd name="adj" fmla="val 14894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3192" y="3511296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" y="3493008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Visualization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4400" y="3730752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algorithm execute step-by-step in real-time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45152" y="1097280"/>
            <a:ext cx="3913632" cy="658368"/>
          </a:xfrm>
          <a:prstGeom prst="roundRect">
            <a:avLst>
              <a:gd name="adj" fmla="val 13889"/>
            </a:avLst>
          </a:prstGeom>
          <a:solidFill>
            <a:srgbClr val="111827"/>
          </a:solidFill>
          <a:ln w="20320">
            <a:solidFill>
              <a:srgbClr val="22D3E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36592" y="1207008"/>
            <a:ext cx="429768" cy="429768"/>
          </a:xfrm>
          <a:prstGeom prst="roundRect">
            <a:avLst>
              <a:gd name="adj" fmla="val 14894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36592" y="1207008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257800" y="1188720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the Algorithm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57800" y="1426464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Pause, rewind, and inspect every individual operation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601968" y="1755648"/>
            <a:ext cx="0" cy="109728"/>
          </a:xfrm>
          <a:prstGeom prst="line">
            <a:avLst/>
          </a:prstGeom>
          <a:noFill/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45152" y="1865376"/>
            <a:ext cx="3913632" cy="658368"/>
          </a:xfrm>
          <a:prstGeom prst="roundRect">
            <a:avLst>
              <a:gd name="adj" fmla="val 13889"/>
            </a:avLst>
          </a:prstGeom>
          <a:solidFill>
            <a:srgbClr val="111827"/>
          </a:solidFill>
          <a:ln w="2032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36592" y="1975104"/>
            <a:ext cx="429768" cy="429768"/>
          </a:xfrm>
          <a:prstGeom prst="roundRect">
            <a:avLst>
              <a:gd name="adj" fmla="val 14894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36592" y="1975104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257800" y="1956816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Algorithms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257800" y="2194560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two or more algorithms side-by-side for direct comparison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601968" y="2523744"/>
            <a:ext cx="0" cy="109728"/>
          </a:xfrm>
          <a:prstGeom prst="line">
            <a:avLst/>
          </a:prstGeom>
          <a:noFill/>
          <a:ln w="12700">
            <a:solidFill>
              <a:srgbClr val="00B4D8">
                <a:alpha val="4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45152" y="2633472"/>
            <a:ext cx="3913632" cy="658368"/>
          </a:xfrm>
          <a:prstGeom prst="roundRect">
            <a:avLst>
              <a:gd name="adj" fmla="val 13889"/>
            </a:avLst>
          </a:prstGeom>
          <a:solidFill>
            <a:srgbClr val="111827"/>
          </a:solidFill>
          <a:ln w="20320">
            <a:solidFill>
              <a:srgbClr val="8B5CF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36592" y="2743200"/>
            <a:ext cx="429768" cy="429768"/>
          </a:xfrm>
          <a:prstGeom prst="roundRect">
            <a:avLst>
              <a:gd name="adj" fmla="val 14894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36592" y="2743200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257800" y="2724912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Quiz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257800" y="2962656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understanding with auto-graded interactive questions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601968" y="3291840"/>
            <a:ext cx="0" cy="109728"/>
          </a:xfrm>
          <a:prstGeom prst="line">
            <a:avLst/>
          </a:prstGeom>
          <a:noFill/>
          <a:ln w="12700">
            <a:solidFill>
              <a:srgbClr val="8B5CF6">
                <a:alpha val="4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45152" y="3401568"/>
            <a:ext cx="3913632" cy="658368"/>
          </a:xfrm>
          <a:prstGeom prst="roundRect">
            <a:avLst>
              <a:gd name="adj" fmla="val 13889"/>
            </a:avLst>
          </a:prstGeom>
          <a:solidFill>
            <a:srgbClr val="111827"/>
          </a:solidFill>
          <a:ln w="2032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736592" y="3511296"/>
            <a:ext cx="429768" cy="429768"/>
          </a:xfrm>
          <a:prstGeom prst="roundRect">
            <a:avLst>
              <a:gd name="adj" fmla="val 14894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36592" y="3511296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257800" y="3493008"/>
            <a:ext cx="3209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Progress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257800" y="3730752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badges, monitor completion and revisit weak areas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01752" y="4663440"/>
            <a:ext cx="3913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Foundation  ( Steps 1–4 )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645152" y="4663440"/>
            <a:ext cx="3913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Mastery  ( Steps 5–8 )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AlgoVision into a complete adaptive learning ecosystem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078992"/>
            <a:ext cx="1947672" cy="3273552"/>
          </a:xfrm>
          <a:prstGeom prst="roundRect">
            <a:avLst>
              <a:gd name="adj" fmla="val 6103"/>
            </a:avLst>
          </a:prstGeom>
          <a:solidFill>
            <a:srgbClr val="111827"/>
          </a:solidFill>
          <a:ln w="2032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8972" y="1216152"/>
            <a:ext cx="658368" cy="658368"/>
          </a:xfrm>
          <a:prstGeom prst="ellipse">
            <a:avLst/>
          </a:prstGeom>
          <a:solidFill>
            <a:srgbClr val="00B4D8">
              <a:alpha val="72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8972" y="121615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993392"/>
            <a:ext cx="1764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Tutor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2359152"/>
            <a:ext cx="172821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assistant that gives personalized hints, real-time explanations, and tailored recommendations based on each user's unique learning behavior and pace.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84048" y="3694176"/>
            <a:ext cx="1728216" cy="182880"/>
          </a:xfrm>
          <a:prstGeom prst="roundRect">
            <a:avLst>
              <a:gd name="adj" fmla="val 20000"/>
            </a:avLst>
          </a:prstGeom>
          <a:solidFill>
            <a:srgbClr val="00B4D8">
              <a:alpha val="26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3694176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GPT-Powered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84048" y="3922776"/>
            <a:ext cx="1728216" cy="182880"/>
          </a:xfrm>
          <a:prstGeom prst="roundRect">
            <a:avLst>
              <a:gd name="adj" fmla="val 20000"/>
            </a:avLst>
          </a:prstGeom>
          <a:solidFill>
            <a:srgbClr val="00B4D8">
              <a:alpha val="26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3922776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Hints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84048" y="4151376"/>
            <a:ext cx="1728216" cy="182880"/>
          </a:xfrm>
          <a:prstGeom prst="roundRect">
            <a:avLst>
              <a:gd name="adj" fmla="val 20000"/>
            </a:avLst>
          </a:prstGeom>
          <a:solidFill>
            <a:srgbClr val="00B4D8">
              <a:alpha val="26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4151376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Explanations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386584" y="1078992"/>
            <a:ext cx="1947672" cy="3273552"/>
          </a:xfrm>
          <a:prstGeom prst="roundRect">
            <a:avLst>
              <a:gd name="adj" fmla="val 6103"/>
            </a:avLst>
          </a:prstGeom>
          <a:solidFill>
            <a:srgbClr val="111827"/>
          </a:solidFill>
          <a:ln w="20320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031236" y="1216152"/>
            <a:ext cx="658368" cy="658368"/>
          </a:xfrm>
          <a:prstGeom prst="ellipse">
            <a:avLst/>
          </a:prstGeom>
          <a:solidFill>
            <a:srgbClr val="8B5CF6">
              <a:alpha val="72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31236" y="121615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2478024" y="1993392"/>
            <a:ext cx="1764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Learning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496312" y="2359152"/>
            <a:ext cx="172821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AI-curated learning paths tailored to strengths, weaknesses, and goals — ensuring optimal skill progression and no time wasted on already-mastered content.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496312" y="3694176"/>
            <a:ext cx="1728216" cy="182880"/>
          </a:xfrm>
          <a:prstGeom prst="roundRect">
            <a:avLst>
              <a:gd name="adj" fmla="val 20000"/>
            </a:avLst>
          </a:prstGeom>
          <a:solidFill>
            <a:srgbClr val="8B5CF6">
              <a:alpha val="26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96312" y="3694176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Paths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496312" y="3922776"/>
            <a:ext cx="1728216" cy="182880"/>
          </a:xfrm>
          <a:prstGeom prst="roundRect">
            <a:avLst>
              <a:gd name="adj" fmla="val 20000"/>
            </a:avLst>
          </a:prstGeom>
          <a:solidFill>
            <a:srgbClr val="8B5CF6">
              <a:alpha val="26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96312" y="3922776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 Analysis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496312" y="4151376"/>
            <a:ext cx="1728216" cy="182880"/>
          </a:xfrm>
          <a:prstGeom prst="roundRect">
            <a:avLst>
              <a:gd name="adj" fmla="val 20000"/>
            </a:avLst>
          </a:prstGeom>
          <a:solidFill>
            <a:srgbClr val="8B5CF6">
              <a:alpha val="26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96312" y="4151376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Tracking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498848" y="1078992"/>
            <a:ext cx="1947672" cy="3273552"/>
          </a:xfrm>
          <a:prstGeom prst="roundRect">
            <a:avLst>
              <a:gd name="adj" fmla="val 6103"/>
            </a:avLst>
          </a:prstGeom>
          <a:solidFill>
            <a:srgbClr val="111827"/>
          </a:solidFill>
          <a:ln w="2032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143500" y="1216152"/>
            <a:ext cx="658368" cy="658368"/>
          </a:xfrm>
          <a:prstGeom prst="ellipse">
            <a:avLst/>
          </a:prstGeom>
          <a:solidFill>
            <a:srgbClr val="10B981">
              <a:alpha val="72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43500" y="121615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🎮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4590288" y="1993392"/>
            <a:ext cx="1764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608576" y="2359152"/>
            <a:ext cx="172821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Points, badges, daily streaks, global leaderboards, and timed coding challenges that make algorithm learning addictive, social, and deeply rewarding.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608576" y="3694176"/>
            <a:ext cx="1728216" cy="182880"/>
          </a:xfrm>
          <a:prstGeom prst="roundRect">
            <a:avLst>
              <a:gd name="adj" fmla="val 20000"/>
            </a:avLst>
          </a:prstGeom>
          <a:solidFill>
            <a:srgbClr val="10B981">
              <a:alpha val="26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08576" y="3694176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 &amp; XP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608576" y="3922776"/>
            <a:ext cx="1728216" cy="182880"/>
          </a:xfrm>
          <a:prstGeom prst="roundRect">
            <a:avLst>
              <a:gd name="adj" fmla="val 20000"/>
            </a:avLst>
          </a:prstGeom>
          <a:solidFill>
            <a:srgbClr val="10B981">
              <a:alpha val="26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08576" y="3922776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Streaks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608576" y="4151376"/>
            <a:ext cx="1728216" cy="182880"/>
          </a:xfrm>
          <a:prstGeom prst="roundRect">
            <a:avLst>
              <a:gd name="adj" fmla="val 20000"/>
            </a:avLst>
          </a:prstGeom>
          <a:solidFill>
            <a:srgbClr val="10B981">
              <a:alpha val="26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08576" y="4151376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611112" y="1078992"/>
            <a:ext cx="1947672" cy="3273552"/>
          </a:xfrm>
          <a:prstGeom prst="roundRect">
            <a:avLst>
              <a:gd name="adj" fmla="val 6103"/>
            </a:avLst>
          </a:prstGeom>
          <a:solidFill>
            <a:srgbClr val="111827"/>
          </a:solidFill>
          <a:ln w="2032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255764" y="1216152"/>
            <a:ext cx="658368" cy="658368"/>
          </a:xfrm>
          <a:prstGeom prst="ellipse">
            <a:avLst/>
          </a:prstGeom>
          <a:solidFill>
            <a:srgbClr val="F59E0B">
              <a:alpha val="7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55764" y="121615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6702552" y="1993392"/>
            <a:ext cx="1764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Analytics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720840" y="2359152"/>
            <a:ext cx="172821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dashboards showing learning velocity, time-on-topic, quiz accuracy trends, and long-term skill improvement charts for self-assessment and growth.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720840" y="3694176"/>
            <a:ext cx="1728216" cy="182880"/>
          </a:xfrm>
          <a:prstGeom prst="roundRect">
            <a:avLst>
              <a:gd name="adj" fmla="val 20000"/>
            </a:avLst>
          </a:prstGeom>
          <a:solidFill>
            <a:srgbClr val="F59E0B">
              <a:alpha val="26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20840" y="3694176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Charts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720840" y="3922776"/>
            <a:ext cx="1728216" cy="182880"/>
          </a:xfrm>
          <a:prstGeom prst="roundRect">
            <a:avLst>
              <a:gd name="adj" fmla="val 20000"/>
            </a:avLst>
          </a:prstGeom>
          <a:solidFill>
            <a:srgbClr val="F59E0B">
              <a:alpha val="26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20840" y="3922776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Tracking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6720840" y="4151376"/>
            <a:ext cx="1728216" cy="182880"/>
          </a:xfrm>
          <a:prstGeom prst="roundRect">
            <a:avLst>
              <a:gd name="adj" fmla="val 20000"/>
            </a:avLst>
          </a:prstGeom>
          <a:solidFill>
            <a:srgbClr val="F59E0B">
              <a:alpha val="26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20840" y="4151376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Score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011680"/>
            <a:ext cx="5943600" cy="5943600"/>
          </a:xfrm>
          <a:prstGeom prst="ellipse">
            <a:avLst/>
          </a:prstGeom>
          <a:solidFill>
            <a:srgbClr val="00B4D8">
              <a:alpha val="11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2926080"/>
            <a:ext cx="4572000" cy="4572000"/>
          </a:xfrm>
          <a:prstGeom prst="ellipse">
            <a:avLst/>
          </a:prstGeom>
          <a:solidFill>
            <a:srgbClr val="8B5CF6">
              <a:alpha val="11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8503920" cy="1280160"/>
          </a:xfrm>
          <a:prstGeom prst="roundRect">
            <a:avLst>
              <a:gd name="adj" fmla="val 9286"/>
            </a:avLst>
          </a:prstGeom>
          <a:solidFill>
            <a:srgbClr val="0F1A2E"/>
          </a:solidFill>
          <a:ln w="20320">
            <a:solidFill>
              <a:srgbClr val="22D3EE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978408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AlgoVision </a:t>
            </a:r>
            <a:pPr algn="ctr" indent="0" marL="0">
              <a:buNone/>
            </a:pPr>
            <a:r>
              <a:rPr lang="en-US" sz="12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not just another visualizer — </a:t>
            </a:r>
            <a:pPr algn="ctr"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complete learning revolution.</a:t>
            </a:r>
            <a:endParaRPr lang="en-US" sz="12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combining interactive visuals, custom inputs, ML insights and a unified code playground, </a:t>
            </a:r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AlgoVision empowers every learner</a:t>
            </a:r>
            <a:pPr algn="ctr" indent="0" marL="0">
              <a:buNone/>
            </a:pPr>
            <a:r>
              <a:rPr lang="en-US" sz="10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</a:t>
            </a:r>
            <a:pPr algn="ctr" indent="0" marL="0">
              <a:buNone/>
            </a:pPr>
            <a:r>
              <a:rPr lang="en-US" sz="10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truly understand algorithms</a:t>
            </a:r>
            <a:pPr algn="ctr" indent="0" marL="0">
              <a:buNone/>
            </a:pPr>
            <a:r>
              <a:rPr lang="en-US" sz="105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not just memorize them.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0040" y="2450592"/>
            <a:ext cx="3931920" cy="530352"/>
          </a:xfrm>
          <a:prstGeom prst="roundRect">
            <a:avLst>
              <a:gd name="adj" fmla="val 15517"/>
            </a:avLst>
          </a:prstGeom>
          <a:solidFill>
            <a:srgbClr val="111827"/>
          </a:solidFill>
          <a:ln w="1397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29768" y="2587752"/>
            <a:ext cx="256032" cy="256032"/>
          </a:xfrm>
          <a:prstGeom prst="ellipse">
            <a:avLst/>
          </a:prstGeom>
          <a:solidFill>
            <a:srgbClr val="10B981">
              <a:alpha val="72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25877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450592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user journey defined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2450592"/>
            <a:ext cx="3931920" cy="530352"/>
          </a:xfrm>
          <a:prstGeom prst="roundRect">
            <a:avLst>
              <a:gd name="adj" fmla="val 15517"/>
            </a:avLst>
          </a:prstGeom>
          <a:solidFill>
            <a:srgbClr val="111827"/>
          </a:solidFill>
          <a:ln w="1397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73168" y="2587752"/>
            <a:ext cx="256032" cy="256032"/>
          </a:xfrm>
          <a:prstGeom prst="ellipse">
            <a:avLst/>
          </a:prstGeom>
          <a:solidFill>
            <a:srgbClr val="10B981">
              <a:alpha val="72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3168" y="25877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120640" y="2450592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core modules identified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127248"/>
            <a:ext cx="3931920" cy="530352"/>
          </a:xfrm>
          <a:prstGeom prst="roundRect">
            <a:avLst>
              <a:gd name="adj" fmla="val 15517"/>
            </a:avLst>
          </a:prstGeom>
          <a:solidFill>
            <a:srgbClr val="111827"/>
          </a:solidFill>
          <a:ln w="1397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9768" y="3264408"/>
            <a:ext cx="256032" cy="256032"/>
          </a:xfrm>
          <a:prstGeom prst="ellipse">
            <a:avLst/>
          </a:prstGeom>
          <a:solidFill>
            <a:srgbClr val="F59E0B">
              <a:alpha val="7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" y="32644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3127248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priorities documented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127248"/>
            <a:ext cx="3931920" cy="530352"/>
          </a:xfrm>
          <a:prstGeom prst="roundRect">
            <a:avLst>
              <a:gd name="adj" fmla="val 15517"/>
            </a:avLst>
          </a:prstGeom>
          <a:solidFill>
            <a:srgbClr val="111827"/>
          </a:solidFill>
          <a:ln w="1397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73168" y="3264408"/>
            <a:ext cx="256032" cy="256032"/>
          </a:xfrm>
          <a:prstGeom prst="ellipse">
            <a:avLst/>
          </a:prstGeom>
          <a:solidFill>
            <a:srgbClr val="00B4D8">
              <a:alpha val="72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32644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20640" y="3127248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experience blueprint prepared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33425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AlgoVision  —  Where Algorithms Come Alive  🚀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57200" y="4773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01 Task  •  Product Discovery &amp; Experience Design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AlgoVision — Day 01 Task</dc:title>
  <dc:subject>PptxGenJS Presentation</dc:subject>
  <dc:creator>PptxGenJS</dc:creator>
  <cp:lastModifiedBy>PptxGenJS</cp:lastModifiedBy>
  <cp:revision>1</cp:revision>
  <dcterms:created xsi:type="dcterms:W3CDTF">2026-06-23T17:41:47Z</dcterms:created>
  <dcterms:modified xsi:type="dcterms:W3CDTF">2026-06-23T17:41:47Z</dcterms:modified>
</cp:coreProperties>
</file>